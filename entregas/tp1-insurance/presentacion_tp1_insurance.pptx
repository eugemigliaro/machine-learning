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TP1 · Insurance Charges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Regresión, validación cruzada y regularización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Machine Learning ·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Problema y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Objetivo:</a:t>
            </a:r>
            <a:r>
              <a:rPr/>
              <a:t> predecir el costo anual </a:t>
            </a:r>
            <a:r>
              <a:rPr>
                <a:latin typeface="Courier"/>
              </a:rPr>
              <a:t>charges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1.338</a:t>
            </a:r>
            <a:r>
              <a:rPr/>
              <a:t> casos originales</a:t>
            </a:r>
            <a:br/>
            <a:r>
              <a:rPr b="1"/>
              <a:t>1.337</a:t>
            </a:r>
            <a:r>
              <a:rPr/>
              <a:t> casos únicos</a:t>
            </a:r>
          </a:p>
          <a:p>
            <a:pPr lvl="0" indent="0" marL="0">
              <a:buNone/>
            </a:pPr>
            <a:r>
              <a:rPr b="1"/>
              <a:t>1.203</a:t>
            </a:r>
            <a:r>
              <a:rPr/>
              <a:t> desarrollo · 90 %</a:t>
            </a:r>
            <a:br/>
            <a:r>
              <a:rPr b="1"/>
              <a:t>134</a:t>
            </a:r>
            <a:r>
              <a:rPr/>
              <a:t> test · 10 %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Numéricas: </a:t>
            </a:r>
            <a:r>
              <a:rPr>
                <a:latin typeface="Courier"/>
              </a:rPr>
              <a:t>age</a:t>
            </a:r>
            <a:r>
              <a:rPr/>
              <a:t>, </a:t>
            </a:r>
            <a:r>
              <a:rPr>
                <a:latin typeface="Courier"/>
              </a:rPr>
              <a:t>bmi</a:t>
            </a:r>
            <a:r>
              <a:rPr/>
              <a:t>, </a:t>
            </a:r>
            <a:r>
              <a:rPr>
                <a:latin typeface="Courier"/>
              </a:rPr>
              <a:t>children</a:t>
            </a:r>
            <a:r>
              <a:rPr/>
              <a:t>.</a:t>
            </a:r>
          </a:p>
          <a:p>
            <a:pPr lvl="0"/>
            <a:r>
              <a:rPr/>
              <a:t>Categóricas: </a:t>
            </a:r>
            <a:r>
              <a:rPr>
                <a:latin typeface="Courier"/>
              </a:rPr>
              <a:t>sex</a:t>
            </a:r>
            <a:r>
              <a:rPr/>
              <a:t>, </a:t>
            </a:r>
            <a:r>
              <a:rPr>
                <a:latin typeface="Courier"/>
              </a:rPr>
              <a:t>smoker</a:t>
            </a:r>
            <a:r>
              <a:rPr/>
              <a:t>, </a:t>
            </a:r>
            <a:r>
              <a:rPr>
                <a:latin typeface="Courier"/>
              </a:rPr>
              <a:t>region</a:t>
            </a:r>
            <a:r>
              <a:rPr/>
              <a:t>.</a:t>
            </a:r>
          </a:p>
          <a:p>
            <a:pPr lvl="0"/>
            <a:r>
              <a:rPr/>
              <a:t>Quitamos una copia exactamente duplicada.</a:t>
            </a:r>
          </a:p>
          <a:p>
            <a:pPr lvl="0"/>
            <a:r>
              <a:rPr/>
              <a:t>Estratificamos por </a:t>
            </a:r>
            <a:r>
              <a:rPr>
                <a:latin typeface="Courier"/>
              </a:rPr>
              <a:t>smoker</a:t>
            </a:r>
            <a:r>
              <a:rPr/>
              <a:t>.</a:t>
            </a:r>
          </a:p>
          <a:p>
            <a:pPr lvl="0"/>
            <a:r>
              <a:rPr/>
              <a:t>Semilla reproducible: 42.</a:t>
            </a:r>
          </a:p>
          <a:p>
            <a:pPr lvl="0" indent="0" marL="0">
              <a:buNone/>
            </a:pPr>
            <a:r>
              <a:rPr i="1"/>
              <a:t>[P01, pp. 1–2] [D01]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Train, validación y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Train</a:t>
            </a:r>
            <a:r>
              <a:rPr/>
              <a:t> → aprende parámetros</a:t>
            </a:r>
            <a:br/>
            <a:r>
              <a:rPr b="1"/>
              <a:t>Validación</a:t>
            </a:r>
            <a:r>
              <a:rPr/>
              <a:t> → elige grado y λ</a:t>
            </a:r>
            <a:br/>
            <a:r>
              <a:rPr b="1"/>
              <a:t>Test</a:t>
            </a:r>
            <a:r>
              <a:rPr/>
              <a:t> → estima una vez el rendimiento final</a:t>
            </a:r>
          </a:p>
          <a:p>
            <a:pPr lvl="0" indent="0" marL="0">
              <a:buNone/>
            </a:pPr>
            <a:r>
              <a:rPr/>
              <a:t>Usamos </a:t>
            </a:r>
            <a:r>
              <a:rPr b="1"/>
              <a:t>10-fold cross-validation</a:t>
            </a:r>
            <a:r>
              <a:rPr/>
              <a:t> sólo sobre desarrollo:</a:t>
            </a:r>
          </a:p>
          <a:p>
            <a:pPr lvl="0" indent="0" marL="1270000">
              <a:buNone/>
            </a:pPr>
            <a:r>
              <a:rPr sz="2000"/>
              <a:t>Cada caso participa una vez en validación y nueve veces en entrenamiento.</a:t>
            </a:r>
          </a:p>
          <a:p>
            <a:pPr lvl="0" indent="0" marL="0">
              <a:buNone/>
            </a:pPr>
            <a:r>
              <a:rPr/>
              <a:t>El preprocesamiento se ajusta dentro de cada fold. Así evitamos que validación o test informen al modelo durante el entrenamiento.</a:t>
            </a:r>
          </a:p>
          <a:p>
            <a:pPr lvl="0" indent="0" marL="0">
              <a:buNone/>
            </a:pPr>
            <a:r>
              <a:rPr i="1"/>
              <a:t>[T02, pp. 85, 89, 94–96] [T03, pp. 12, 15]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Qué encontramos en el EDA</a:t>
            </a:r>
          </a:p>
        </p:txBody>
      </p:sp>
      <p:pic>
        <p:nvPicPr>
          <p:cNvPr descr="presentacion-assets/eda_smok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14500"/>
            <a:ext cx="4038600" cy="2349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Sin faltantes ni categorías inesperadas.</a:t>
            </a:r>
          </a:p>
          <a:p>
            <a:pPr lvl="0"/>
            <a:r>
              <a:rPr/>
              <a:t>Los </a:t>
            </a:r>
            <a:r>
              <a:rPr>
                <a:latin typeface="Courier"/>
              </a:rPr>
              <a:t>charges</a:t>
            </a:r>
            <a:r>
              <a:rPr/>
              <a:t> altos pertenecían principalmente a fumadores.</a:t>
            </a:r>
          </a:p>
          <a:p>
            <a:pPr lvl="0"/>
            <a:r>
              <a:rPr/>
              <a:t>IQR por grupo mostró dos distribuciones distintas.</a:t>
            </a:r>
          </a:p>
          <a:p>
            <a:pPr lvl="0"/>
            <a:r>
              <a:rPr/>
              <a:t>Conservamos outliers plausibles y las seis variables.</a:t>
            </a:r>
          </a:p>
          <a:p>
            <a:pPr lvl="0" indent="0" marL="0">
              <a:buNone/>
            </a:pPr>
            <a:r>
              <a:rPr i="1"/>
              <a:t>[T02, pp. 39–42]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Pipeline y métrica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Dentro de cada fold:</a:t>
            </a:r>
          </a:p>
          <a:p>
            <a:pPr lvl="0" indent="-342900" marL="342900">
              <a:buAutoNum type="arabicPeriod"/>
            </a:pPr>
            <a:r>
              <a:rPr/>
              <a:t>Numéricas → estandarización.</a:t>
            </a:r>
          </a:p>
          <a:p>
            <a:pPr lvl="0" indent="-342900" marL="342900">
              <a:buAutoNum type="arabicPeriod"/>
            </a:pPr>
            <a:r>
              <a:rPr/>
              <a:t>Categóricas → one-hot.</a:t>
            </a:r>
          </a:p>
          <a:p>
            <a:pPr lvl="0" indent="-342900" marL="342900">
              <a:buAutoNum type="arabicPeriod"/>
            </a:pPr>
            <a:r>
              <a:rPr/>
              <a:t>Polinomio → grados 1, 2 o 3.</a:t>
            </a:r>
          </a:p>
          <a:p>
            <a:pPr lvl="0" indent="-342900" marL="342900">
              <a:buAutoNum type="arabicPeriod"/>
            </a:pPr>
            <a:r>
              <a:rPr/>
              <a:t>Para L1 → escalar los términos.</a:t>
            </a:r>
          </a:p>
          <a:p>
            <a:pPr lvl="0" indent="-342900" marL="342900">
              <a:buAutoNum type="arabicPeriod"/>
            </a:pPr>
            <a:r>
              <a:rPr/>
              <a:t>Regresión → ajustar coeficientes.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RMSE</a:t>
            </a:r>
          </a:p>
          <a:p>
            <a:pPr lvl="0" indent="0" marL="0">
              <a:buNone/>
            </a:pPr>
            <a:r>
              <a:rPr/>
              <a:t>Raíz del promedio de los errores cuadrados.</a:t>
            </a:r>
          </a:p>
          <a:p>
            <a:pPr lvl="0"/>
            <a:r>
              <a:rPr/>
              <a:t>Mismas unidades que </a:t>
            </a:r>
            <a:r>
              <a:rPr>
                <a:latin typeface="Courier"/>
              </a:rPr>
              <a:t>charges</a:t>
            </a:r>
            <a:r>
              <a:rPr/>
              <a:t>.</a:t>
            </a:r>
          </a:p>
          <a:p>
            <a:pPr lvl="0"/>
            <a:r>
              <a:rPr/>
              <a:t>Penaliza más los errores grandes.</a:t>
            </a:r>
          </a:p>
          <a:p>
            <a:pPr lvl="0"/>
            <a:r>
              <a:rPr/>
              <a:t>Se calcula en train y validación.</a:t>
            </a:r>
          </a:p>
          <a:p>
            <a:pPr lvl="0" indent="0" marL="0">
              <a:buNone/>
            </a:pPr>
            <a:r>
              <a:rPr i="1"/>
              <a:t>[T02, p. 52] [T03, p. 87]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¿Qué grado generaliza mejor?</a:t>
            </a:r>
          </a:p>
        </p:txBody>
      </p:sp>
      <p:pic>
        <p:nvPicPr>
          <p:cNvPr descr="presentacion-assets/comparacion_grado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14500"/>
            <a:ext cx="4038600" cy="2349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Grado 2 mejora aproximadamente 20 % frente al lineal.</a:t>
            </a:r>
          </a:p>
          <a:p>
            <a:pPr lvl="0"/>
            <a:r>
              <a:rPr/>
              <a:t>Grado 3 baja train, pero empeora validación.</a:t>
            </a:r>
          </a:p>
          <a:p>
            <a:pPr lvl="0"/>
            <a:r>
              <a:rPr/>
              <a:t>La brecha crece de 114 a 430.</a:t>
            </a:r>
          </a:p>
          <a:p>
            <a:pPr lvl="0" indent="0" marL="0">
              <a:buNone/>
            </a:pPr>
            <a:r>
              <a:rPr b="1"/>
              <a:t>Señal de complejidad excesiva.</a:t>
            </a:r>
          </a:p>
          <a:p>
            <a:pPr lvl="0" indent="0" marL="0">
              <a:buNone/>
            </a:pPr>
            <a:r>
              <a:rPr i="1"/>
              <a:t>[T02, pp. 52–53, 76–77]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Regularización L1</a:t>
            </a:r>
          </a:p>
        </p:txBody>
      </p:sp>
      <p:pic>
        <p:nvPicPr>
          <p:cNvPr descr="presentacion-assets/regularizacion_l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93900"/>
            <a:ext cx="4038600" cy="177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Error cuadrático + penalización L1</a:t>
            </a:r>
          </a:p>
          <a:p>
            <a:pPr lvl="0"/>
            <a:r>
              <a:rPr/>
              <a:t>Elegimos </a:t>
            </a:r>
            <a:r>
              <a:rPr b="1"/>
              <a:t>λ = 100</a:t>
            </a:r>
            <a:r>
              <a:rPr/>
              <a:t> por validación.</a:t>
            </a:r>
          </a:p>
          <a:p>
            <a:pPr lvl="0"/>
            <a:r>
              <a:rPr/>
              <a:t>Mejora modesta: 0,74 %.</a:t>
            </a:r>
          </a:p>
          <a:p>
            <a:pPr lvl="0"/>
            <a:r>
              <a:rPr/>
              <a:t>Reduce coeficientes activos.</a:t>
            </a:r>
          </a:p>
          <a:p>
            <a:pPr lvl="0"/>
            <a:r>
              <a:rPr/>
              <a:t>λ = 1000 subajusta.</a:t>
            </a:r>
          </a:p>
          <a:p>
            <a:pPr lvl="0" indent="0" marL="0">
              <a:buNone/>
            </a:pPr>
            <a:r>
              <a:rPr i="1"/>
              <a:t>[T03, p. 90]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Modelo seleccionado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Grado 2 + L1 + λ = 100</a:t>
            </a:r>
          </a:p>
          <a:p>
            <a:pPr lvl="0" indent="0" marL="0">
              <a:buNone/>
            </a:pPr>
            <a:r>
              <a:rPr b="1"/>
              <a:t>4.847,19</a:t>
            </a:r>
            <a:r>
              <a:rPr/>
              <a:t> · train final</a:t>
            </a:r>
            <a:br/>
            <a:r>
              <a:rPr b="1"/>
              <a:t>4.872,42 ± 776,46</a:t>
            </a:r>
            <a:r>
              <a:rPr/>
              <a:t> · validación CV</a:t>
            </a:r>
            <a:br/>
            <a:r>
              <a:rPr b="1"/>
              <a:t>3.957,83</a:t>
            </a:r>
            <a:r>
              <a:rPr/>
              <a:t> · test independiente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Reentrenamos con 1.203 casos.</a:t>
            </a:r>
          </a:p>
          <a:p>
            <a:pPr lvl="0"/>
            <a:r>
              <a:rPr/>
              <a:t>Quedaron 22 de 44 coeficientes.</a:t>
            </a:r>
          </a:p>
          <a:p>
            <a:pPr lvl="0"/>
            <a:r>
              <a:rPr/>
              <a:t>Test se consultó una sola vez.</a:t>
            </a:r>
          </a:p>
          <a:p>
            <a:pPr lvl="0"/>
            <a:r>
              <a:rPr/>
              <a:t>No retocamos el pipeline después.</a:t>
            </a:r>
          </a:p>
          <a:p>
            <a:pPr lvl="0" indent="0" marL="0">
              <a:buNone/>
            </a:pPr>
            <a:r>
              <a:rPr i="1"/>
              <a:t>[P01, pp. 2–3] [T02, pp. 88–89]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Menor error:</a:t>
            </a:r>
            <a:r>
              <a:rPr/>
              <a:t> grado 2 con L1 y λ = 100.</a:t>
            </a:r>
          </a:p>
          <a:p>
            <a:pPr lvl="0" indent="-342900" marL="342900">
              <a:buAutoNum type="arabicPeriod"/>
            </a:pPr>
            <a:r>
              <a:rPr b="1"/>
              <a:t>Modelo para una aplicación:</a:t>
            </a:r>
            <a:r>
              <a:rPr/>
              <a:t> el mismo; mejora al lineal y evita la brecha del grado 3.</a:t>
            </a:r>
          </a:p>
          <a:p>
            <a:pPr lvl="0" indent="-342900" marL="342900">
              <a:buAutoNum type="arabicPeriod"/>
            </a:pPr>
            <a:r>
              <a:rPr b="1"/>
              <a:t>RMSE a comunicar:</a:t>
            </a:r>
            <a:r>
              <a:rPr/>
              <a:t> 3.957,83 sobre test independiente.</a:t>
            </a:r>
          </a:p>
          <a:p>
            <a:pPr lvl="0" indent="0" marL="0">
              <a:buNone/>
            </a:pPr>
            <a:r>
              <a:rPr b="1"/>
              <a:t>Cautela:</a:t>
            </a:r>
            <a:r>
              <a:rPr/>
              <a:t> test contiene sólo 134 casos. El resultado fue más favorable que el promedio de validación, por lo que es una estimación y no una garantía exacta.</a:t>
            </a:r>
          </a:p>
          <a:p>
            <a:pPr lvl="0" indent="0" marL="0">
              <a:buNone/>
            </a:pPr>
            <a:r>
              <a:rPr b="1"/>
              <a:t>Idea central:</a:t>
            </a:r>
            <a:r>
              <a:rPr/>
              <a:t> elegimos con validación; estimamos generalización con test.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Apéndice · ¿Qué se optimizó?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Regresión lineal / polinómica sin L1</a:t>
            </a:r>
          </a:p>
          <a:p>
            <a:pPr lvl="0"/>
            <a:r>
              <a:rPr/>
              <a:t>Minimiza la suma de residuos cuadrados.</a:t>
            </a:r>
          </a:p>
          <a:p>
            <a:pPr lvl="0"/>
            <a:r>
              <a:rPr/>
              <a:t>La regresión sigue siendo lineal en los coeficientes aunque las entradas tengan potencias e interacciones.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Lasso</a:t>
            </a:r>
          </a:p>
          <a:p>
            <a:pPr lvl="0"/>
            <a:r>
              <a:rPr/>
              <a:t>Minimiza error cuadrático + penalización L1.</a:t>
            </a:r>
          </a:p>
          <a:p>
            <a:pPr lvl="0"/>
            <a:r>
              <a:rPr>
                <a:latin typeface="Courier"/>
              </a:rPr>
              <a:t>scikit-learn</a:t>
            </a:r>
            <a:r>
              <a:rPr/>
              <a:t> llama </a:t>
            </a:r>
            <a:r>
              <a:rPr>
                <a:latin typeface="Courier"/>
              </a:rPr>
              <a:t>alpha</a:t>
            </a:r>
            <a:r>
              <a:rPr/>
              <a:t> al λ de nuestra presentación.</a:t>
            </a:r>
          </a:p>
          <a:p>
            <a:pPr lvl="0"/>
            <a:r>
              <a:rPr/>
              <a:t>Usa descenso por coordenadas.</a:t>
            </a:r>
          </a:p>
          <a:p>
            <a:pPr lvl="0"/>
            <a:r>
              <a:rPr/>
              <a:t>Con λ = 100 quedaron 22 coeficientes activos.</a:t>
            </a:r>
          </a:p>
          <a:p>
            <a:pPr lvl="0" indent="0" marL="0">
              <a:buNone/>
            </a:pPr>
            <a:r>
              <a:rPr i="1"/>
              <a:t>[T02, pp. 49–52] [T03, p. 90]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Apéndice · Decisiones defendibles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¿Por qué 10 % para test?</a:t>
            </a:r>
            <a:br/>
            <a:r>
              <a:rPr/>
              <a:t>Priorizamos desarrollo para entrenar mejor en cada fold; aceptamos mayor variabilidad final.</a:t>
            </a:r>
          </a:p>
          <a:p>
            <a:pPr lvl="0" indent="0" marL="0">
              <a:buNone/>
            </a:pPr>
            <a:r>
              <a:rPr b="1"/>
              <a:t>¿Por qué estratificar por smoker?</a:t>
            </a:r>
            <a:br/>
            <a:r>
              <a:rPr/>
              <a:t>Es la variable que más separa </a:t>
            </a:r>
            <a:r>
              <a:rPr>
                <a:latin typeface="Courier"/>
              </a:rPr>
              <a:t>charges</a:t>
            </a:r>
            <a:r>
              <a:rPr/>
              <a:t>; estabiliza su proporción sin usar el objetivo para formar los grupos.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¿Por qué conservar outliers?</a:t>
            </a:r>
            <a:br/>
            <a:r>
              <a:rPr/>
              <a:t>Eran plausibles y estructurales, no errores de carga. Quitarlos habría cambiado la población objetivo.</a:t>
            </a:r>
          </a:p>
          <a:p>
            <a:pPr lvl="0" indent="0" marL="0">
              <a:buNone/>
            </a:pPr>
            <a:r>
              <a:rPr b="1"/>
              <a:t>¿Por qué ajustar escalado dentro del fold?</a:t>
            </a:r>
            <a:br/>
            <a:r>
              <a:rPr/>
              <a:t>Para impedir leakage desde validación hacia entrenamiento.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TP1 · Insurance Charges</dc:title>
  <dc:creator/>
  <cp:keywords/>
  <dcterms:created xsi:type="dcterms:W3CDTF">2026-08-24T21:07:18Z</dcterms:created>
  <dcterms:modified xsi:type="dcterms:W3CDTF">2026-08-24T21:07:18Z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Machine Learning · 2026</vt:lpwstr>
  </property>
  <property fmtid="{D5CDD505-2E9C-101B-9397-08002B2CF9AE}" pid="3" name="subtitle">
    <vt:lpwstr>Regresión, validación cruzada y regularización</vt:lpwstr>
  </property>
</Properties>
</file>