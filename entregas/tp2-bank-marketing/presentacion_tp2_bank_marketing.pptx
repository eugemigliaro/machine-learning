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040" y="860000"/>
            <a:ext cx="5760720" cy="4050000"/>
          </a:xfrm>
        </p:spPr>
        <p:txBody>
          <a:bodyPr/>
          <a:lstStyle>
            <a:lvl1pPr>
              <a:defRPr sz="1400"/>
            </a:lvl1pPr>
            <a:lvl2pPr>
              <a:defRPr sz="1250"/>
            </a:lvl2pPr>
            <a:lvl3pPr>
              <a:defRPr sz="11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860000"/>
            <a:ext cx="2606040" cy="4050000"/>
          </a:xfrm>
        </p:spPr>
        <p:txBody>
          <a:bodyPr/>
          <a:lstStyle>
            <a:lvl1pPr>
              <a:defRPr sz="1400"/>
            </a:lvl1pPr>
            <a:lvl2pPr>
              <a:defRPr sz="1250"/>
            </a:lvl2pPr>
            <a:lvl3pPr>
              <a:defRPr sz="11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120000"/>
            <a:ext cx="8503920" cy="640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320040" y="860000"/>
            <a:ext cx="8503920" cy="40500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TP2 · Bank Marketing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Clasificación supervisada: ¿a qué clientes llamar?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Learning ·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 y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Objetivo:</a:t>
            </a:r>
            <a:r>
              <a:rPr/>
              <a:t> predecir si el cliente contrata un plazo fijo (</a:t>
            </a:r>
            <a:r>
              <a:rPr>
                <a:latin typeface="Courier"/>
              </a:rPr>
              <a:t>y</a:t>
            </a:r>
            <a:r>
              <a:rPr/>
              <a:t>) para priorizar a quién llamar.</a:t>
            </a:r>
          </a:p>
          <a:p>
            <a:pPr lvl="0"/>
            <a:r>
              <a:rPr b="1"/>
              <a:t>41.188</a:t>
            </a:r>
            <a:r>
              <a:rPr/>
              <a:t> llamadas · 20 variables · </a:t>
            </a:r>
            <a:r>
              <a:rPr b="1"/>
              <a:t>11,3 %</a:t>
            </a:r>
            <a:r>
              <a:rPr/>
              <a:t> respondió que sí · quitamos 12 duplicados exactos.</a:t>
            </a:r>
          </a:p>
          <a:p>
            <a:pPr lvl="0"/>
            <a:r>
              <a:rPr/>
              <a:t>Split estratificado por </a:t>
            </a:r>
            <a:r>
              <a:rPr>
                <a:latin typeface="Courier"/>
              </a:rPr>
              <a:t>y</a:t>
            </a:r>
            <a:r>
              <a:rPr/>
              <a:t>, semilla 42: </a:t>
            </a:r>
            <a:r>
              <a:rPr b="1"/>
              <a:t>32.940</a:t>
            </a:r>
            <a:r>
              <a:rPr/>
              <a:t> desarrollo (80 %) · </a:t>
            </a:r>
            <a:r>
              <a:rPr b="1"/>
              <a:t>8.236</a:t>
            </a:r>
            <a:r>
              <a:rPr/>
              <a:t> test (20 %).</a:t>
            </a:r>
          </a:p>
          <a:p>
            <a:pPr lvl="0" indent="0" marL="0">
              <a:buNone/>
            </a:pPr>
            <a:r>
              <a:rPr b="1"/>
              <a:t>Qué datos usamos en cada etapa</a:t>
            </a:r>
          </a:p>
          <a:p>
            <a:pPr lvl="0"/>
            <a:r>
              <a:rPr b="1"/>
              <a:t>EDA y decisiones</a:t>
            </a:r>
            <a:r>
              <a:rPr/>
              <a:t> → sólo desarrollo.</a:t>
            </a:r>
          </a:p>
          <a:p>
            <a:pPr lvl="0"/>
            <a:r>
              <a:rPr b="1"/>
              <a:t>Modelo, hiperparámetros y umbral</a:t>
            </a:r>
            <a:r>
              <a:rPr/>
              <a:t> → 5-fold CV en desarrollo.</a:t>
            </a:r>
          </a:p>
          <a:p>
            <a:pPr lvl="0"/>
            <a:r>
              <a:rPr b="1"/>
              <a:t>Desempeño esperado</a:t>
            </a:r>
            <a:r>
              <a:rPr/>
              <a:t> → test, una sola vez.</a:t>
            </a:r>
          </a:p>
          <a:p>
            <a:pPr lvl="0" indent="0" marL="0">
              <a:buNone/>
            </a:pPr>
            <a:r>
              <a:rPr i="1"/>
              <a:t>[P02, p. 1] [D02] [T02, p. 89]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datos cambian con el tiempo</a:t>
            </a:r>
          </a:p>
        </p:txBody>
      </p:sp>
      <p:pic>
        <p:nvPicPr>
          <p:cNvPr descr="presentacion-assets/deriva_tempo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079500"/>
            <a:ext cx="5753100" cy="358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 </a:t>
            </a:r>
            <a:r>
              <a:rPr b="1"/>
              <a:t>4,8 %</a:t>
            </a:r>
            <a:r>
              <a:rPr/>
              <a:t> (2008) a </a:t>
            </a:r>
            <a:r>
              <a:rPr b="1"/>
              <a:t>52,1 %</a:t>
            </a:r>
            <a:r>
              <a:rPr/>
              <a:t> (2010) de “yes”.</a:t>
            </a:r>
          </a:p>
          <a:p>
            <a:pPr lvl="0"/>
            <a:r>
              <a:rPr/>
              <a:t>Los índices macro funcionan como un reloj: r de 0,91 a 0,97.</a:t>
            </a:r>
          </a:p>
          <a:p>
            <a:pPr lvl="0"/>
            <a:r>
              <a:rPr b="1"/>
              <a:t>Split aleatorio estratificado</a:t>
            </a:r>
            <a:r>
              <a:rPr/>
              <a:t>, como pide la consigna.</a:t>
            </a:r>
          </a:p>
          <a:p>
            <a:pPr lvl="0"/>
            <a:r>
              <a:rPr/>
              <a:t>Test será optimista para campañas futuras: lo medimos al final.</a:t>
            </a:r>
          </a:p>
          <a:p>
            <a:pPr lvl="0" indent="0" marL="0">
              <a:buNone/>
            </a:pPr>
            <a:r>
              <a:rPr i="1"/>
              <a:t>[D03] [P02, p. 2]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 EDA a las decisiones</a:t>
            </a:r>
          </a:p>
        </p:txBody>
      </p:sp>
      <p:pic>
        <p:nvPicPr>
          <p:cNvPr descr="presentacion-assets/eda_decisio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168400"/>
            <a:ext cx="57531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Excluimos </a:t>
            </a:r>
            <a:r>
              <a:rPr>
                <a:latin typeface="Courier"/>
              </a:rPr>
              <a:t>housing</a:t>
            </a:r>
            <a:r>
              <a:rPr/>
              <a:t>, </a:t>
            </a:r>
            <a:r>
              <a:rPr>
                <a:latin typeface="Courier"/>
              </a:rPr>
              <a:t>loan</a:t>
            </a:r>
            <a:r>
              <a:rPr/>
              <a:t>, </a:t>
            </a:r>
            <a:r>
              <a:rPr>
                <a:latin typeface="Courier"/>
              </a:rPr>
              <a:t>day_of_week</a:t>
            </a:r>
            <a:r>
              <a:rPr/>
              <a:t>, </a:t>
            </a:r>
            <a:r>
              <a:rPr>
                <a:latin typeface="Courier"/>
              </a:rPr>
              <a:t>pdays</a:t>
            </a:r>
            <a:r>
              <a:rPr/>
              <a:t> y </a:t>
            </a:r>
            <a:r>
              <a:rPr>
                <a:latin typeface="Courier"/>
              </a:rPr>
              <a:t>emp.var.rate</a:t>
            </a:r>
            <a:r>
              <a:rPr/>
              <a:t>.</a:t>
            </a:r>
          </a:p>
          <a:p>
            <a:pPr lvl="0"/>
            <a:r>
              <a:rPr>
                <a:latin typeface="Courier"/>
              </a:rPr>
              <a:t>unknown</a:t>
            </a:r>
            <a:r>
              <a:rPr/>
              <a:t> como categoría: </a:t>
            </a:r>
            <a:r>
              <a:rPr>
                <a:latin typeface="Courier"/>
              </a:rPr>
              <a:t>default</a:t>
            </a:r>
            <a:r>
              <a:rPr/>
              <a:t> desconocido acepta 5,3 % vs. 12,8 %.</a:t>
            </a:r>
          </a:p>
          <a:p>
            <a:pPr lvl="0"/>
            <a:r>
              <a:rPr>
                <a:latin typeface="Courier"/>
              </a:rPr>
              <a:t>log1p</a:t>
            </a:r>
            <a:r>
              <a:rPr/>
              <a:t> en </a:t>
            </a:r>
            <a:r>
              <a:rPr>
                <a:latin typeface="Courier"/>
              </a:rPr>
              <a:t>campaign</a:t>
            </a:r>
            <a:r>
              <a:rPr/>
              <a:t> y </a:t>
            </a:r>
            <a:r>
              <a:rPr>
                <a:latin typeface="Courier"/>
              </a:rPr>
              <a:t>previous</a:t>
            </a:r>
            <a:r>
              <a:rPr/>
              <a:t>.</a:t>
            </a:r>
          </a:p>
          <a:p>
            <a:pPr lvl="0"/>
            <a:r>
              <a:rPr/>
              <a:t>Edad en U: relación no lineal.</a:t>
            </a:r>
          </a:p>
          <a:p>
            <a:pPr lvl="0"/>
            <a:r>
              <a:rPr/>
              <a:t>Verificado por CV: </a:t>
            </a:r>
            <a:r>
              <a:rPr>
                <a:latin typeface="Courier"/>
              </a:rPr>
              <a:t>nr.employed</a:t>
            </a:r>
            <a:r>
              <a:rPr/>
              <a:t> volvió (+0,007 en NB).</a:t>
            </a:r>
          </a:p>
          <a:p>
            <a:pPr lvl="0" indent="0" marL="0">
              <a:buNone/>
            </a:pPr>
            <a:r>
              <a:rPr i="1"/>
              <a:t>[P02, p. 1] [T09, p. 39]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duration</a:t>
            </a:r>
            <a:r>
              <a:rPr/>
              <a:t>: leakage</a:t>
            </a:r>
          </a:p>
        </p:txBody>
      </p:sp>
      <p:pic>
        <p:nvPicPr>
          <p:cNvPr descr="presentacion-assets/benchmark_du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066800"/>
            <a:ext cx="5753100" cy="361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Se conoce </a:t>
            </a:r>
            <a:r>
              <a:rPr b="1"/>
              <a:t>al terminar</a:t>
            </a:r>
            <a:r>
              <a:rPr/>
              <a:t> la llamada.</a:t>
            </a:r>
          </a:p>
          <a:p>
            <a:pPr lvl="0"/>
            <a:r>
              <a:rPr/>
              <a:t>Con ella, RF pasa de 0,766 a </a:t>
            </a:r>
            <a:r>
              <a:rPr b="1"/>
              <a:t>0,938</a:t>
            </a:r>
            <a:r>
              <a:rPr/>
              <a:t> de AUC.</a:t>
            </a:r>
          </a:p>
          <a:p>
            <a:pPr lvl="0"/>
            <a:r>
              <a:rPr/>
              <a:t>Ese número no es alcanzable antes de llamar.</a:t>
            </a:r>
          </a:p>
          <a:p>
            <a:pPr lvl="0"/>
            <a:r>
              <a:rPr b="1"/>
              <a:t>La excluimos de todos los modelos.</a:t>
            </a:r>
          </a:p>
          <a:p>
            <a:pPr lvl="0" indent="0" marL="0">
              <a:buNone/>
            </a:pPr>
            <a:r>
              <a:rPr i="1"/>
              <a:t>[D03] [P02, p. 1]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Pipeline, validación y métricas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Pipeline por fold:</a:t>
            </a:r>
            <a:r>
              <a:rPr/>
              <a:t> transformaciones fijas (exclusiones, </a:t>
            </a:r>
            <a:r>
              <a:rPr>
                <a:latin typeface="Courier"/>
              </a:rPr>
              <a:t>default_no</a:t>
            </a:r>
            <a:r>
              <a:rPr/>
              <a:t>, </a:t>
            </a:r>
            <a:r>
              <a:rPr>
                <a:latin typeface="Courier"/>
              </a:rPr>
              <a:t>log1p</a:t>
            </a:r>
            <a:r>
              <a:rPr/>
              <a:t>) → escalado → one-hot, o discretización en NB categórico → modelo.</a:t>
            </a:r>
          </a:p>
          <a:p>
            <a:pPr lvl="0"/>
            <a:r>
              <a:rPr b="1"/>
              <a:t>5 folds estratificados:</a:t>
            </a:r>
            <a:r>
              <a:rPr/>
              <a:t> ~742 positivos por fold.</a:t>
            </a:r>
          </a:p>
          <a:p>
            <a:pPr lvl="0"/>
            <a:r>
              <a:rPr b="1"/>
              <a:t>AUC:</a:t>
            </a:r>
            <a:r>
              <a:rPr/>
              <a:t> priorizar es ordenar clientes; al azar vale 0,5.</a:t>
            </a:r>
          </a:p>
          <a:p>
            <a:pPr lvl="0"/>
            <a:r>
              <a:rPr b="1"/>
              <a:t>Recall:</a:t>
            </a:r>
            <a:r>
              <a:rPr/>
              <a:t> perder un interesado (FN) cuesta más que una llamada de más (FP).</a:t>
            </a:r>
          </a:p>
          <a:p>
            <a:pPr lvl="0"/>
            <a:r>
              <a:rPr b="1"/>
              <a:t>Accuracy no:</a:t>
            </a:r>
            <a:r>
              <a:rPr/>
              <a:t> “siempre no” acierta el 88,7 % sin encontrar a nadie.</a:t>
            </a:r>
          </a:p>
          <a:p>
            <a:pPr lvl="0"/>
            <a:r>
              <a:rPr b="1"/>
              <a:t>Umbral:</a:t>
            </a:r>
            <a:r>
              <a:rPr/>
              <a:t> punto de la curva ROC más cercano a (0, 1), con predicciones out-of-fold de desarrollo.</a:t>
            </a:r>
          </a:p>
          <a:p>
            <a:pPr lvl="0" indent="0" marL="0">
              <a:buNone/>
            </a:pPr>
            <a:r>
              <a:rPr i="1"/>
              <a:t>[T02, pp. 94, 96] [T04, pp. 26, 41, 51, 52]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Comparación de modelos</a:t>
            </a:r>
          </a:p>
        </p:txBody>
      </p:sp>
      <p:pic>
        <p:nvPicPr>
          <p:cNvPr descr="presentacion-assets/comparacion_modelo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168400"/>
            <a:ext cx="575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RF</a:t>
            </a:r>
            <a:r>
              <a:rPr/>
              <a:t> gana en AUC y en recall.</a:t>
            </a:r>
          </a:p>
          <a:p>
            <a:pPr lvl="0"/>
            <a:r>
              <a:rPr b="1"/>
              <a:t>SVM:</a:t>
            </a:r>
            <a:r>
              <a:rPr/>
              <a:t> balancear clases lo lleva de 0,700 a 0,777.</a:t>
            </a:r>
          </a:p>
          <a:p>
            <a:pPr lvl="0"/>
            <a:r>
              <a:rPr b="1"/>
              <a:t>KNN:</a:t>
            </a:r>
            <a:r>
              <a:rPr/>
              <a:t> </a:t>
            </a:r>
            <a:r>
              <a:rPr>
                <a:latin typeface="Courier"/>
              </a:rPr>
              <a:t>k</a:t>
            </a:r>
            <a:r>
              <a:rPr/>
              <a:t> pasa de 5 a 321.</a:t>
            </a:r>
          </a:p>
          <a:p>
            <a:pPr lvl="0"/>
            <a:r>
              <a:rPr b="1"/>
              <a:t>NB categórico:</a:t>
            </a:r>
            <a:r>
              <a:rPr/>
              <a:t> 0,780 sin ajustar.</a:t>
            </a:r>
          </a:p>
          <a:p>
            <a:pPr lvl="0" indent="0" marL="0">
              <a:buNone/>
            </a:pPr>
            <a:r>
              <a:rPr i="1"/>
              <a:t>[P02, p. 2]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Sobreajuste y subajuste</a:t>
            </a:r>
          </a:p>
        </p:txBody>
      </p:sp>
      <p:pic>
        <p:nvPicPr>
          <p:cNvPr descr="presentacion-assets/curvas_validac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181100"/>
            <a:ext cx="57531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RF sin límite:</a:t>
            </a:r>
            <a:r>
              <a:rPr/>
              <a:t> train 0,999 · validación 0,766 → sobreajuste.</a:t>
            </a:r>
          </a:p>
          <a:p>
            <a:pPr lvl="0"/>
            <a:r>
              <a:rPr>
                <a:latin typeface="Courier"/>
              </a:rPr>
              <a:t>max_depth = 2</a:t>
            </a:r>
            <a:r>
              <a:rPr/>
              <a:t>: subajuste leve.</a:t>
            </a:r>
          </a:p>
          <a:p>
            <a:pPr lvl="0"/>
            <a:r>
              <a:rPr/>
              <a:t>Elegimos </a:t>
            </a:r>
            <a:r>
              <a:rPr>
                <a:latin typeface="Courier"/>
              </a:rPr>
              <a:t>max_depth = 10</a:t>
            </a:r>
            <a:r>
              <a:rPr/>
              <a:t>.</a:t>
            </a:r>
          </a:p>
          <a:p>
            <a:pPr lvl="0"/>
            <a:r>
              <a:rPr b="1"/>
              <a:t>KNN con </a:t>
            </a:r>
            <a:r>
              <a:rPr b="1">
                <a:latin typeface="Courier"/>
              </a:rPr>
              <a:t>k = 1</a:t>
            </a:r>
            <a:r>
              <a:rPr/>
              <a:t> memoriza; con </a:t>
            </a:r>
            <a:r>
              <a:rPr>
                <a:latin typeface="Courier"/>
              </a:rPr>
              <a:t>k</a:t>
            </a:r>
            <a:r>
              <a:rPr/>
              <a:t> grande la brecha se cierra.</a:t>
            </a:r>
          </a:p>
          <a:p>
            <a:pPr lvl="0" indent="0" marL="0">
              <a:buNone/>
            </a:pPr>
            <a:r>
              <a:rPr i="1"/>
              <a:t>[T07, p. 50] [T09, p. 29]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final en test</a:t>
            </a:r>
          </a:p>
        </p:txBody>
      </p:sp>
      <p:pic>
        <p:nvPicPr>
          <p:cNvPr descr="presentacion-assets/modelo_fin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384300"/>
            <a:ext cx="57531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RF</a:t>
            </a:r>
            <a:r>
              <a:rPr/>
              <a:t> · profundidad 10 · 400 árboles · umbral 0,084</a:t>
            </a:r>
          </a:p>
          <a:p>
            <a:pPr lvl="0"/>
            <a:r>
              <a:rPr/>
              <a:t>Reentrenado con desarrollo; test consultado </a:t>
            </a:r>
            <a:r>
              <a:rPr b="1"/>
              <a:t>una vez</a:t>
            </a:r>
            <a:r>
              <a:rPr/>
              <a:t>.</a:t>
            </a:r>
          </a:p>
          <a:p>
            <a:pPr lvl="0"/>
            <a:r>
              <a:rPr b="1"/>
              <a:t>AUC 0,809</a:t>
            </a:r>
            <a:r>
              <a:rPr/>
              <a:t> (0,791–0,826)</a:t>
            </a:r>
          </a:p>
          <a:p>
            <a:pPr lvl="0"/>
            <a:r>
              <a:rPr b="1"/>
              <a:t>Recall 0,718</a:t>
            </a:r>
            <a:r>
              <a:rPr/>
              <a:t> (0,691–0,746)</a:t>
            </a:r>
          </a:p>
          <a:p>
            <a:pPr lvl="0"/>
            <a:r>
              <a:rPr/>
              <a:t>Precisión 0,300 vs. 0,113 llamando a todos.</a:t>
            </a:r>
          </a:p>
          <a:p>
            <a:pPr lvl="0" indent="0" marL="0">
              <a:buNone/>
            </a:pPr>
            <a:r>
              <a:rPr i="1"/>
              <a:t>IC 95 % bootstrap · [T02, p. 88]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Limitación: el modelo aprende el período</a:t>
            </a:r>
          </a:p>
        </p:txBody>
      </p:sp>
      <p:pic>
        <p:nvPicPr>
          <p:cNvPr descr="presentacion-assets/limitacion_tempo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193800"/>
            <a:ext cx="5753100" cy="335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Índices macro y </a:t>
            </a:r>
            <a:r>
              <a:rPr>
                <a:latin typeface="Courier"/>
              </a:rPr>
              <a:t>month</a:t>
            </a:r>
            <a:r>
              <a:rPr/>
              <a:t>: </a:t>
            </a:r>
            <a:r>
              <a:rPr b="1"/>
              <a:t>59 %</a:t>
            </a:r>
            <a:r>
              <a:rPr/>
              <a:t> de la importancia.</a:t>
            </a:r>
          </a:p>
          <a:p>
            <a:pPr lvl="0"/>
            <a:r>
              <a:rPr/>
              <a:t>Entrenado con 2008–2009, el AUC en 2010 cae a </a:t>
            </a:r>
            <a:r>
              <a:rPr b="1"/>
              <a:t>0,678</a:t>
            </a:r>
            <a:r>
              <a:rPr/>
              <a:t>.</a:t>
            </a:r>
          </a:p>
          <a:p>
            <a:pPr lvl="0"/>
            <a:r>
              <a:rPr/>
              <a:t>Con el umbral fijo llamaría al </a:t>
            </a:r>
            <a:r>
              <a:rPr b="1"/>
              <a:t>100 %</a:t>
            </a:r>
            <a:r>
              <a:rPr/>
              <a:t> de 2010.</a:t>
            </a:r>
          </a:p>
          <a:p>
            <a:pPr lvl="0" indent="0" marL="0">
              <a:buNone/>
            </a:pPr>
            <a:r>
              <a:rPr i="1"/>
              <a:t>[T07, p. 71]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RF</a:t>
            </a:r>
            <a:r>
              <a:rPr/>
              <a:t> captura no linealidades (edad) e interacciones, no necesita escalar, y limitar la profundidad controló el sobreajuste.</a:t>
            </a:r>
          </a:p>
          <a:p>
            <a:pPr lvl="0" indent="-342900" marL="342900">
              <a:buAutoNum type="arabicPeriod"/>
            </a:pPr>
            <a:r>
              <a:rPr b="1"/>
              <a:t>Supuestos:</a:t>
            </a:r>
            <a:r>
              <a:rPr/>
              <a:t> NB sufre la correlación (</a:t>
            </a:r>
            <a:r>
              <a:rPr>
                <a:latin typeface="Courier"/>
              </a:rPr>
              <a:t>euribor3m</a:t>
            </a:r>
            <a:r>
              <a:rPr/>
              <a:t>–</a:t>
            </a:r>
            <a:r>
              <a:rPr>
                <a:latin typeface="Courier"/>
              </a:rPr>
              <a:t>nr.employed</a:t>
            </a:r>
            <a:r>
              <a:rPr/>
              <a:t>: 0,94) y las binarias no gaussianas; KNN, la superposición de clases y las 46 dimensiones; SVM, el desbalance.</a:t>
            </a:r>
          </a:p>
          <a:p>
            <a:pPr lvl="0" indent="-342900" marL="342900">
              <a:buAutoNum type="arabicPeriod"/>
            </a:pPr>
            <a:r>
              <a:rPr b="1"/>
              <a:t>Errores:</a:t>
            </a:r>
            <a:r>
              <a:rPr/>
              <a:t> FN = depósito perdido; FP = llamada fallida. En test: 262 FN y 1.555 FP, es decir 2,3 llamadas fallidas por éxito vs. 7,9 llamando a todos.</a:t>
            </a:r>
          </a:p>
          <a:p>
            <a:pPr lvl="0" indent="-342900" marL="342900">
              <a:buAutoNum type="arabicPeriod"/>
            </a:pPr>
            <a:r>
              <a:rPr b="1"/>
              <a:t>Mejoras:</a:t>
            </a:r>
            <a:r>
              <a:rPr/>
              <a:t> validación temporal y reentrenamiento, umbral por costo o capacidad, más información previa a la llamada.</a:t>
            </a:r>
          </a:p>
          <a:p>
            <a:pPr lvl="0" indent="0" marL="0">
              <a:buNone/>
            </a:pPr>
            <a:r>
              <a:rPr b="1"/>
              <a:t>Esperamos AUC ≈ 0,81 y recall ≈ 0,72 para clientes como los de 2008–2010; menos para campañas futuras.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Apéndice · SVM y desbalance</a:t>
            </a:r>
          </a:p>
        </p:txBody>
      </p:sp>
      <p:pic>
        <p:nvPicPr>
          <p:cNvPr descr="presentacion-assets/svm_balance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7500" y="1041400"/>
            <a:ext cx="57531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Sin balanceo: validación de 0,70 a 0,71 con cualquier </a:t>
            </a:r>
            <a:r>
              <a:rPr>
                <a:latin typeface="Courier"/>
              </a:rPr>
              <a:t>C</a:t>
            </a:r>
            <a:r>
              <a:rPr/>
              <a:t>.</a:t>
            </a:r>
          </a:p>
          <a:p>
            <a:pPr lvl="0"/>
            <a:r>
              <a:rPr/>
              <a:t>Con </a:t>
            </a:r>
            <a:r>
              <a:rPr>
                <a:latin typeface="Courier"/>
              </a:rPr>
              <a:t>balanced</a:t>
            </a:r>
            <a:r>
              <a:rPr/>
              <a:t>, un error en un positivo pesa ~4,4 y en un negativo ~0,56.</a:t>
            </a:r>
          </a:p>
          <a:p>
            <a:pPr lvl="0"/>
            <a:r>
              <a:rPr>
                <a:latin typeface="Courier"/>
              </a:rPr>
              <a:t>C</a:t>
            </a:r>
            <a:r>
              <a:rPr/>
              <a:t> grande sube train y abre la brecha.</a:t>
            </a:r>
          </a:p>
          <a:p>
            <a:pPr lvl="0"/>
            <a:r>
              <a:rPr/>
              <a:t>Kernels con </a:t>
            </a:r>
            <a:r>
              <a:rPr>
                <a:latin typeface="Courier"/>
              </a:rPr>
              <a:t>C = 0,1</a:t>
            </a:r>
            <a:r>
              <a:rPr/>
              <a:t>: lineal 0,769 · polinómico 0,777 · RBF 0,777.</a:t>
            </a:r>
          </a:p>
          <a:p>
            <a:pPr lvl="0" indent="0" marL="0">
              <a:buNone/>
            </a:pPr>
            <a:r>
              <a:rPr i="1"/>
              <a:t>[T08, p. 49]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Apéndice · Exclusiones verificadas por CV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Cambio de AUC de validación al agregar cada grupo al conjunto del EDA. Con el RF ajustado, housing, loan y day_of_week tampoco mejoran (0,7979 vs. 0,7984). </a:t>
            </a:r>
            <a:r>
              <a:rPr i="1"/>
              <a:t>[P02, p. 1]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Grupo agregado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NB gauss.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NB categ.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KNN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−0,001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housing, loan, day_of_week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−0,001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+0,007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−0,008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nr.employed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+0,007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+0,004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emp.var.rate + nr.employed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+0,009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+0,003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−0,002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−0,001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Apéndice · Decisiones defendibles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¿Por qué no un split temporal?</a:t>
            </a:r>
            <a:r>
              <a:rPr/>
              <a:t> Test tendría 31–46 % de positivos frente a 6–7 % en desarrollo: mezclaría la calidad del modelo con el cambio de distribución. Lo medimos aparte.</a:t>
            </a:r>
          </a:p>
          <a:p>
            <a:pPr lvl="0"/>
            <a:r>
              <a:rPr b="1"/>
              <a:t>¿Por qué un umbral tan bajo (0,084)?</a:t>
            </a:r>
            <a:r>
              <a:rPr/>
              <a:t> Con 11 % de positivos, el umbral 0,5 deja al RF con recall 0,23.</a:t>
            </a:r>
          </a:p>
          <a:p>
            <a:pPr lvl="0"/>
            <a:r>
              <a:rPr b="1"/>
              <a:t>¿Por qué AUC y no accuracy?</a:t>
            </a:r>
            <a:r>
              <a:rPr/>
              <a:t> “Siempre no” acierta 88,7 % sin encontrar ningún interesado.</a:t>
            </a:r>
          </a:p>
          <a:p>
            <a:pPr lvl="0"/>
            <a:r>
              <a:rPr b="1"/>
              <a:t>¿Por qué test dio mejor que CV?</a:t>
            </a:r>
            <a:r>
              <a:rPr/>
              <a:t> 0,809 vs. 0,798 está dentro de la variabilidad (IC 95 %: 0,791–0,826). No cambiamos nada después de mirarlo.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 · Bank Marketing</dc:title>
  <dc:creator/>
  <cp:keywords/>
  <dcterms:created xsi:type="dcterms:W3CDTF">2026-10-04T06:11:52Z</dcterms:created>
  <dcterms:modified xsi:type="dcterms:W3CDTF">2026-10-04T06:11:52Z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Machine Learning · 2026</vt:lpwstr>
  </property>
  <property fmtid="{D5CDD505-2E9C-101B-9397-08002B2CF9AE}" pid="3" name="subtitle">
    <vt:lpwstr>Clasificación supervisada: ¿a qué clientes llamar?</vt:lpwstr>
  </property>
</Properties>
</file>